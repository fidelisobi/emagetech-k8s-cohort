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</p:sldIdLst>
  <p:sldSz cy="5143500" cx="9144000"/>
  <p:notesSz cx="6858000" cy="9144000"/>
  <p:embeddedFontLst>
    <p:embeddedFont>
      <p:font typeface="Roboto"/>
      <p:regular r:id="rId88"/>
      <p:bold r:id="rId89"/>
      <p:italic r:id="rId90"/>
      <p:boldItalic r:id="rId91"/>
    </p:embeddedFont>
    <p:embeddedFont>
      <p:font typeface="Roboto Mono"/>
      <p:regular r:id="rId92"/>
      <p:bold r:id="rId93"/>
      <p:italic r:id="rId94"/>
      <p:boldItalic r:id="rId95"/>
    </p:embeddedFont>
    <p:embeddedFont>
      <p:font typeface="Comfortaa"/>
      <p:regular r:id="rId96"/>
      <p:bold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4FB2A1-5C8D-44A5-ACE0-77A1F7D9A831}">
  <a:tblStyle styleId="{4A4FB2A1-5C8D-44A5-ACE0-77A1F7D9A8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RobotoMono-boldItalic.fntdata"/><Relationship Id="rId94" Type="http://schemas.openxmlformats.org/officeDocument/2006/relationships/font" Target="fonts/RobotoMono-italic.fntdata"/><Relationship Id="rId97" Type="http://schemas.openxmlformats.org/officeDocument/2006/relationships/font" Target="fonts/Comfortaa-bold.fntdata"/><Relationship Id="rId96" Type="http://schemas.openxmlformats.org/officeDocument/2006/relationships/font" Target="fonts/Comfortaa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Roboto-boldItalic.fntdata"/><Relationship Id="rId90" Type="http://schemas.openxmlformats.org/officeDocument/2006/relationships/font" Target="fonts/Roboto-italic.fntdata"/><Relationship Id="rId93" Type="http://schemas.openxmlformats.org/officeDocument/2006/relationships/font" Target="fonts/RobotoMono-bold.fntdata"/><Relationship Id="rId92" Type="http://schemas.openxmlformats.org/officeDocument/2006/relationships/font" Target="fonts/RobotoMono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font" Target="fonts/Roboto-regular.fntdata"/><Relationship Id="rId87" Type="http://schemas.openxmlformats.org/officeDocument/2006/relationships/slide" Target="slides/slide80.xml"/><Relationship Id="rId89" Type="http://schemas.openxmlformats.org/officeDocument/2006/relationships/font" Target="fonts/Roboto-bold.fntdata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745e958d6_0_3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745e958d6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745e958d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745e958d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745e958d6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745e958d6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745e958d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745e958d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745e958d6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745e958d6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745e958d6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745e958d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745e958d6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6745e958d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745e958d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745e958d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745e958d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745e958d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745e958d6_0_3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745e958d6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745e958d6_0_3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6745e958d6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6745e958d6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6745e958d6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745e958d6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6745e958d6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6745e958d6_0_4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6745e958d6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6745e958d6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6745e958d6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6745e958d6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6745e958d6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6745e958d6_0_4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6745e958d6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6745e958d6_0_4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6745e958d6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745e958d6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6745e958d6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6745e958d6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6745e958d6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6745e958d6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6745e958d6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745e958d6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6745e958d6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6745e958d6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6745e958d6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745e958d6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6745e958d6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6745e958d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6745e958d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6745e958d6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6745e958d6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6745e958d6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6745e958d6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ebf547b6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ebf547b6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6745e958d6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6745e958d6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6745e958d6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6745e958d6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6745e958d6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6745e958d6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b79c504b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b79c504b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b79c504b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b79c504b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b79c504b8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b79c504b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b79c504b8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b79c504b8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b79c504b8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b79c504b8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b79c504b8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b79c504b8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b79c504b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b79c504b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b79c504b8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b79c504b8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b79c504b8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b79c504b8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b79c504b8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b79c504b8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b79c504b8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b79c504b8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b79c504b8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b79c504b8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b79c504b8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b79c504b8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b79c504b8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b79c504b8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b79c504b8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b79c504b8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b79c504b8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b79c504b8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b79c504b8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b79c504b8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b79c504b8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b79c504b8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b79c504b8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b79c504b8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b79c504b8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b79c504b8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b79c504b8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b79c504b8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b79c504b8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b79c504b8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b79c504b8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b79c504b8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bb6db796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bb6db796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bb6db7969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bb6db796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bb6db7969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bb6db7969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bb6db7969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bb6db7969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bb6db7969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bb6db7969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bb6db7969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2bb6db7969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bb6db7969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bb6db7969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bb6db7969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bb6db7969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bb6db7969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bb6db7969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bc492336dc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bc492336dc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bb6db7969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bb6db7969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bb6db7969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bb6db7969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bb6db7969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bb6db7969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bb6db7969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bb6db7969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bb6db7969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bb6db7969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bb6db7969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bb6db7969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bb6db7969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bb6db7969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bb6db7969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bb6db7969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bb6db7969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bb6db7969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bed7e618f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bed7e618f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bed7e618f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bed7e618f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bed7e618f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bed7e618f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bed7e618f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bed7e618f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bed7e618f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bed7e618f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bed7e618f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bed7e618f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6" name="Google Shape;6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5" name="Google Shape;75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7" name="Google Shape;97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6" name="Google Shape;116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docker.com/desktop/install/windows-install/" TargetMode="External"/><Relationship Id="rId4" Type="http://schemas.openxmlformats.org/officeDocument/2006/relationships/hyperlink" Target="https://docs.docker.com/desktop/install/mac-install/" TargetMode="External"/><Relationship Id="rId5" Type="http://schemas.openxmlformats.org/officeDocument/2006/relationships/hyperlink" Target="https://docs.docker.com/engine/install/ubuntu/" TargetMode="External"/><Relationship Id="rId6" Type="http://schemas.openxmlformats.org/officeDocument/2006/relationships/hyperlink" Target="https://docs.docker.com/engine/install/linux-postinstall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docker.com/engine/reference/builder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ocs.google.com/spreadsheets/d/1MgsZ3DtsJ15ITEBcvFwq6ntrntOysbvyHfkQoVrMkcc/edit?usp=sharing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debian.org/releases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quay.io/coreos/etcd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geeksforgeeks.org/introduction-semantic-versioning/" TargetMode="External"/><Relationship Id="rId4" Type="http://schemas.openxmlformats.org/officeDocument/2006/relationships/hyperlink" Target="https://nehckl0.medium.com/semver-and-calver-2-popular-software-versioning-schemes-96be80efe36" TargetMode="External"/><Relationship Id="rId5" Type="http://schemas.openxmlformats.org/officeDocument/2006/relationships/hyperlink" Target="https://wiki.ubuntu.com/Releases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kaggle.com/code/residentmario/best-practices-for-propagating-signals-on-docker/notebook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bmc.com/blogs/docker-cmd-vs-entrypoint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shapeshed.com/unix-exit-codes/#:~:text=An%20exit%20code%2C%20or%20sometimes,event%20of%20successes%20of%20failures.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github.com/moby/libnetwork/blob/master/docs/design.md#the-container-network-model" TargetMode="External"/><Relationship Id="rId4" Type="http://schemas.openxmlformats.org/officeDocument/2006/relationships/image" Target="../media/image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ipwithease.com/difference-between-underlay-network-and-overlay-network/#:~:text=Philosophy-,Underlay%20Network%20is%20physical%20infrastructure%20above%20which%20overlay%20network%20is,Network%20layer%20(the%20underlay).&amp;text=Ethernet%20Switching%2C%20VLAN%20%2C%20Routing%20etc.&amp;text=Designed%20to%20provide%20more%20scalability%20than%20underlay%20network." TargetMode="External"/><Relationship Id="rId4" Type="http://schemas.openxmlformats.org/officeDocument/2006/relationships/hyperlink" Target="https://ipwithease.com/difference-between-underlay-network-and-overlay-network/#:~:text=Philosophy-,Underlay%20Network%20is%20physical%20infrastructure%20above%20which%20overlay%20network%20is,Network%20layer%20(the%20underlay).&amp;text=Ethernet%20Switching%2C%20VLAN%20%2C%20Routing%20etc.&amp;text=Designed%20to%20provide%20more%20scalability%20than%20underlay%20network.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6.xml"/><Relationship Id="rId3" Type="http://schemas.openxmlformats.org/officeDocument/2006/relationships/hyperlink" Target="https://www.padok.fr/en/blog/container-docker-oci" TargetMode="Externa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Would be updated as Class progresses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(Docker) Containers</a:t>
            </a:r>
            <a:endParaRPr/>
          </a:p>
        </p:txBody>
      </p:sp>
      <p:sp>
        <p:nvSpPr>
          <p:cNvPr id="137" name="Google Shape;137;p26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 Series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143" name="Google Shape;143;p27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&amp; Containers</a:t>
            </a:r>
            <a:endParaRPr/>
          </a:p>
        </p:txBody>
      </p:sp>
      <p:sp>
        <p:nvSpPr>
          <p:cNvPr id="144" name="Google Shape;144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Ease of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Isolated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 interference between processes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containers?</a:t>
            </a:r>
            <a:endParaRPr/>
          </a:p>
        </p:txBody>
      </p:sp>
      <p:sp>
        <p:nvSpPr>
          <p:cNvPr id="150" name="Google Shape;150;p28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 programs that can isolate processes in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can assign resources to an app and hold its dependencies (libraries etc) at once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containers?</a:t>
            </a:r>
            <a:endParaRPr/>
          </a:p>
        </p:txBody>
      </p:sp>
      <p:sp>
        <p:nvSpPr>
          <p:cNvPr id="157" name="Google Shape;157;p2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Sandboxed process on your machine that is isolated from other processes on the host machine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a runnable instance of an image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Requirements?</a:t>
            </a:r>
            <a:endParaRPr/>
          </a:p>
        </p:txBody>
      </p:sp>
      <p:sp>
        <p:nvSpPr>
          <p:cNvPr id="164" name="Google Shape;164;p3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builder - a tool to build a container image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engine - a technology to run a 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Orchestration - a technology used for managing multiple containers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FAQs</a:t>
            </a:r>
            <a:endParaRPr/>
          </a:p>
        </p:txBody>
      </p:sp>
      <p:sp>
        <p:nvSpPr>
          <p:cNvPr id="171" name="Google Shape;171;p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Package Managers?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Dependencies?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Libraries?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Program/Application vs Processes?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vs Client?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 (Command Line interface)?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</a:t>
            </a:r>
            <a:endParaRPr/>
          </a:p>
        </p:txBody>
      </p:sp>
      <p:sp>
        <p:nvSpPr>
          <p:cNvPr id="177" name="Google Shape;177;p32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architectural pattern that structures an application as a collection of services.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Microservices?</a:t>
            </a:r>
            <a:endParaRPr/>
          </a:p>
        </p:txBody>
      </p:sp>
      <p:sp>
        <p:nvSpPr>
          <p:cNvPr id="184" name="Google Shape;184;p33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185" name="Google Shape;185;p3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Independently deployable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Loosely coupled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Organized around the business capability or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Owned by much smaller teams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Highly maintainable and easily tested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Monoliths vs MicroServices</a:t>
            </a:r>
            <a:endParaRPr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316" y="931725"/>
            <a:ext cx="7032431" cy="41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</a:t>
            </a:r>
            <a:endParaRPr/>
          </a:p>
        </p:txBody>
      </p:sp>
      <p:grpSp>
        <p:nvGrpSpPr>
          <p:cNvPr id="197" name="Google Shape;197;p35"/>
          <p:cNvGrpSpPr/>
          <p:nvPr/>
        </p:nvGrpSpPr>
        <p:grpSpPr>
          <a:xfrm>
            <a:off x="39845" y="1304875"/>
            <a:ext cx="4071416" cy="3416400"/>
            <a:chOff x="431925" y="1304875"/>
            <a:chExt cx="2628925" cy="3416400"/>
          </a:xfrm>
        </p:grpSpPr>
        <p:sp>
          <p:nvSpPr>
            <p:cNvPr id="198" name="Google Shape;198;p3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35"/>
          <p:cNvSpPr txBox="1"/>
          <p:nvPr>
            <p:ph idx="4294967295" type="body"/>
          </p:nvPr>
        </p:nvSpPr>
        <p:spPr>
          <a:xfrm>
            <a:off x="155189" y="1304875"/>
            <a:ext cx="3863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p35"/>
          <p:cNvSpPr txBox="1"/>
          <p:nvPr>
            <p:ph idx="4294967295" type="body"/>
          </p:nvPr>
        </p:nvSpPr>
        <p:spPr>
          <a:xfrm>
            <a:off x="158132" y="1850300"/>
            <a:ext cx="38382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Small footprint &amp; easy to manage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Easy to deploy &amp; fast startup times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Easy to onboard new team members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Independently scalable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microservice could use a different technology based on the business need</a:t>
            </a:r>
            <a:endParaRPr sz="1600"/>
          </a:p>
        </p:txBody>
      </p:sp>
      <p:grpSp>
        <p:nvGrpSpPr>
          <p:cNvPr id="202" name="Google Shape;202;p35"/>
          <p:cNvGrpSpPr/>
          <p:nvPr/>
        </p:nvGrpSpPr>
        <p:grpSpPr>
          <a:xfrm>
            <a:off x="4571867" y="1304875"/>
            <a:ext cx="4324145" cy="3416400"/>
            <a:chOff x="3320450" y="1304875"/>
            <a:chExt cx="2632500" cy="3416400"/>
          </a:xfrm>
        </p:grpSpPr>
        <p:sp>
          <p:nvSpPr>
            <p:cNvPr id="203" name="Google Shape;203;p3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35"/>
          <p:cNvSpPr txBox="1"/>
          <p:nvPr>
            <p:ph idx="4294967295" type="body"/>
          </p:nvPr>
        </p:nvSpPr>
        <p:spPr>
          <a:xfrm>
            <a:off x="4685342" y="1304875"/>
            <a:ext cx="40977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6" name="Google Shape;206;p35"/>
          <p:cNvSpPr txBox="1"/>
          <p:nvPr>
            <p:ph idx="4294967295" type="body"/>
          </p:nvPr>
        </p:nvSpPr>
        <p:spPr>
          <a:xfrm>
            <a:off x="4697375" y="1850300"/>
            <a:ext cx="40713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Complex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Requires extra skills to understand the architecture and inter-communications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Deployment could be complex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Less secure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Complex debugging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Monoliths</a:t>
            </a:r>
            <a:endParaRPr/>
          </a:p>
        </p:txBody>
      </p:sp>
      <p:grpSp>
        <p:nvGrpSpPr>
          <p:cNvPr id="212" name="Google Shape;212;p36"/>
          <p:cNvGrpSpPr/>
          <p:nvPr/>
        </p:nvGrpSpPr>
        <p:grpSpPr>
          <a:xfrm>
            <a:off x="39845" y="1304875"/>
            <a:ext cx="4071416" cy="3416400"/>
            <a:chOff x="431925" y="1304875"/>
            <a:chExt cx="2628925" cy="3416400"/>
          </a:xfrm>
        </p:grpSpPr>
        <p:sp>
          <p:nvSpPr>
            <p:cNvPr id="213" name="Google Shape;213;p3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36"/>
          <p:cNvSpPr txBox="1"/>
          <p:nvPr>
            <p:ph idx="4294967295" type="body"/>
          </p:nvPr>
        </p:nvSpPr>
        <p:spPr>
          <a:xfrm>
            <a:off x="155189" y="1304875"/>
            <a:ext cx="3863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p36"/>
          <p:cNvSpPr txBox="1"/>
          <p:nvPr>
            <p:ph idx="4294967295" type="body"/>
          </p:nvPr>
        </p:nvSpPr>
        <p:spPr>
          <a:xfrm>
            <a:off x="158132" y="1850300"/>
            <a:ext cx="38382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Easy to develop and deploy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Easy to architect relative to microservices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Minimal network latency &amp; security issues</a:t>
            </a:r>
            <a:endParaRPr sz="1600"/>
          </a:p>
        </p:txBody>
      </p:sp>
      <p:grpSp>
        <p:nvGrpSpPr>
          <p:cNvPr id="217" name="Google Shape;217;p36"/>
          <p:cNvGrpSpPr/>
          <p:nvPr/>
        </p:nvGrpSpPr>
        <p:grpSpPr>
          <a:xfrm>
            <a:off x="4571867" y="1304875"/>
            <a:ext cx="4324145" cy="3416400"/>
            <a:chOff x="3320450" y="1304875"/>
            <a:chExt cx="2632500" cy="3416400"/>
          </a:xfrm>
        </p:grpSpPr>
        <p:sp>
          <p:nvSpPr>
            <p:cNvPr id="218" name="Google Shape;218;p36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6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36"/>
          <p:cNvSpPr txBox="1"/>
          <p:nvPr>
            <p:ph idx="4294967295" type="body"/>
          </p:nvPr>
        </p:nvSpPr>
        <p:spPr>
          <a:xfrm>
            <a:off x="4685342" y="1304875"/>
            <a:ext cx="40977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36"/>
          <p:cNvSpPr txBox="1"/>
          <p:nvPr>
            <p:ph idx="4294967295" type="body"/>
          </p:nvPr>
        </p:nvSpPr>
        <p:spPr>
          <a:xfrm>
            <a:off x="4697375" y="1850300"/>
            <a:ext cx="40713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Eventually becomes large and difficult to manage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Entire app needs to be redeployed for a minor change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Delayed startup and deployment time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Cannot scale a part of the app, entire app needs to be scaled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Less reliable, a single bug could bring down the entire app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Less agile and flexible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Docker?</a:t>
            </a:r>
            <a:endParaRPr/>
          </a:p>
        </p:txBody>
      </p:sp>
      <p:sp>
        <p:nvSpPr>
          <p:cNvPr id="227" name="Google Shape;227;p37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it?</a:t>
            </a:r>
            <a:endParaRPr/>
          </a:p>
        </p:txBody>
      </p:sp>
      <p:sp>
        <p:nvSpPr>
          <p:cNvPr id="228" name="Google Shape;228;p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platform for container management that runs enclosed environments on an existing host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Vs Docker (Containers)</a:t>
            </a:r>
            <a:endParaRPr/>
          </a:p>
        </p:txBody>
      </p:sp>
      <p:sp>
        <p:nvSpPr>
          <p:cNvPr id="234" name="Google Shape;234;p38"/>
          <p:cNvSpPr/>
          <p:nvPr/>
        </p:nvSpPr>
        <p:spPr>
          <a:xfrm>
            <a:off x="11100" y="4049836"/>
            <a:ext cx="3870900" cy="6909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Host Hardware</a:t>
            </a:r>
            <a:endParaRPr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5066710" y="4049836"/>
            <a:ext cx="3870900" cy="6909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Host Hardware</a:t>
            </a:r>
            <a:endParaRPr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6" name="Google Shape;236;p38"/>
          <p:cNvSpPr/>
          <p:nvPr/>
        </p:nvSpPr>
        <p:spPr>
          <a:xfrm>
            <a:off x="5066710" y="3280520"/>
            <a:ext cx="3870900" cy="69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Host 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p38"/>
          <p:cNvSpPr/>
          <p:nvPr/>
        </p:nvSpPr>
        <p:spPr>
          <a:xfrm>
            <a:off x="11100" y="3280520"/>
            <a:ext cx="3870900" cy="69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Host 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8" name="Google Shape;238;p38"/>
          <p:cNvSpPr/>
          <p:nvPr/>
        </p:nvSpPr>
        <p:spPr>
          <a:xfrm>
            <a:off x="11100" y="2511204"/>
            <a:ext cx="3870900" cy="6909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Hypervisor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9" name="Google Shape;239;p38"/>
          <p:cNvSpPr/>
          <p:nvPr/>
        </p:nvSpPr>
        <p:spPr>
          <a:xfrm>
            <a:off x="5066710" y="2511204"/>
            <a:ext cx="3870900" cy="690900"/>
          </a:xfrm>
          <a:prstGeom prst="roundRect">
            <a:avLst>
              <a:gd fmla="val 16667" name="adj"/>
            </a:avLst>
          </a:prstGeom>
          <a:solidFill>
            <a:srgbClr val="25B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Docker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0" name="Google Shape;240;p38"/>
          <p:cNvSpPr/>
          <p:nvPr/>
        </p:nvSpPr>
        <p:spPr>
          <a:xfrm>
            <a:off x="11100" y="2125429"/>
            <a:ext cx="1897800" cy="307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Client Kernel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8"/>
          <p:cNvSpPr/>
          <p:nvPr/>
        </p:nvSpPr>
        <p:spPr>
          <a:xfrm>
            <a:off x="1984319" y="2125444"/>
            <a:ext cx="1897800" cy="307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Client Kernel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8"/>
          <p:cNvSpPr/>
          <p:nvPr/>
        </p:nvSpPr>
        <p:spPr>
          <a:xfrm>
            <a:off x="11100" y="1723051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System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3" name="Google Shape;243;p38"/>
          <p:cNvSpPr/>
          <p:nvPr/>
        </p:nvSpPr>
        <p:spPr>
          <a:xfrm>
            <a:off x="1984319" y="1722909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System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4" name="Google Shape;244;p38"/>
          <p:cNvSpPr/>
          <p:nvPr/>
        </p:nvSpPr>
        <p:spPr>
          <a:xfrm>
            <a:off x="1984319" y="1320375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Applications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5" name="Google Shape;245;p38"/>
          <p:cNvSpPr/>
          <p:nvPr/>
        </p:nvSpPr>
        <p:spPr>
          <a:xfrm>
            <a:off x="11100" y="1309400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Applications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6" name="Google Shape;246;p38"/>
          <p:cNvSpPr/>
          <p:nvPr/>
        </p:nvSpPr>
        <p:spPr>
          <a:xfrm>
            <a:off x="5066653" y="1717195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System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7039872" y="1722683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System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7039872" y="1320375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Applications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9" name="Google Shape;249;p38"/>
          <p:cNvSpPr/>
          <p:nvPr/>
        </p:nvSpPr>
        <p:spPr>
          <a:xfrm>
            <a:off x="5066653" y="1320375"/>
            <a:ext cx="1897800" cy="323700"/>
          </a:xfrm>
          <a:prstGeom prst="roundRect">
            <a:avLst>
              <a:gd fmla="val 16667" name="adj"/>
            </a:avLst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Applications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555715" y="4819151"/>
            <a:ext cx="27816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Virtual Machines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5611325" y="4819151"/>
            <a:ext cx="27816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1394D"/>
                </a:solidFill>
                <a:latin typeface="Comfortaa"/>
                <a:ea typeface="Comfortaa"/>
                <a:cs typeface="Comfortaa"/>
                <a:sym typeface="Comfortaa"/>
              </a:rPr>
              <a:t>Docker</a:t>
            </a:r>
            <a:endParaRPr b="1">
              <a:solidFill>
                <a:srgbClr val="31394D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2" name="Google Shape;252;p38"/>
          <p:cNvSpPr/>
          <p:nvPr/>
        </p:nvSpPr>
        <p:spPr>
          <a:xfrm>
            <a:off x="5066710" y="2116986"/>
            <a:ext cx="3870900" cy="30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vs Docker</a:t>
            </a:r>
            <a:endParaRPr/>
          </a:p>
        </p:txBody>
      </p:sp>
      <p:grpSp>
        <p:nvGrpSpPr>
          <p:cNvPr id="258" name="Google Shape;258;p39"/>
          <p:cNvGrpSpPr/>
          <p:nvPr/>
        </p:nvGrpSpPr>
        <p:grpSpPr>
          <a:xfrm>
            <a:off x="39845" y="1304875"/>
            <a:ext cx="4071416" cy="3416400"/>
            <a:chOff x="431925" y="1304875"/>
            <a:chExt cx="2628925" cy="3416400"/>
          </a:xfrm>
        </p:grpSpPr>
        <p:sp>
          <p:nvSpPr>
            <p:cNvPr id="259" name="Google Shape;259;p39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9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" name="Google Shape;261;p39"/>
          <p:cNvSpPr txBox="1"/>
          <p:nvPr>
            <p:ph idx="4294967295" type="body"/>
          </p:nvPr>
        </p:nvSpPr>
        <p:spPr>
          <a:xfrm>
            <a:off x="155189" y="1304875"/>
            <a:ext cx="3863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2" name="Google Shape;262;p39"/>
          <p:cNvSpPr txBox="1"/>
          <p:nvPr>
            <p:ph idx="4294967295" type="body"/>
          </p:nvPr>
        </p:nvSpPr>
        <p:spPr>
          <a:xfrm>
            <a:off x="158132" y="1850300"/>
            <a:ext cx="38382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Slice of hardware through virtualization (hardware virtualization)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Has its own OS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Longer boot times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Larger footprint</a:t>
            </a:r>
            <a:endParaRPr sz="1600"/>
          </a:p>
        </p:txBody>
      </p:sp>
      <p:grpSp>
        <p:nvGrpSpPr>
          <p:cNvPr id="263" name="Google Shape;263;p39"/>
          <p:cNvGrpSpPr/>
          <p:nvPr/>
        </p:nvGrpSpPr>
        <p:grpSpPr>
          <a:xfrm>
            <a:off x="4571867" y="1304875"/>
            <a:ext cx="4324145" cy="3416400"/>
            <a:chOff x="3320450" y="1304875"/>
            <a:chExt cx="2632500" cy="3416400"/>
          </a:xfrm>
        </p:grpSpPr>
        <p:sp>
          <p:nvSpPr>
            <p:cNvPr id="264" name="Google Shape;264;p39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9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39"/>
          <p:cNvSpPr txBox="1"/>
          <p:nvPr>
            <p:ph idx="4294967295" type="body"/>
          </p:nvPr>
        </p:nvSpPr>
        <p:spPr>
          <a:xfrm>
            <a:off x="4685342" y="1304875"/>
            <a:ext cx="40977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Docker (MicroServices)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7" name="Google Shape;267;p39"/>
          <p:cNvSpPr txBox="1"/>
          <p:nvPr>
            <p:ph idx="4294967295" type="body"/>
          </p:nvPr>
        </p:nvSpPr>
        <p:spPr>
          <a:xfrm>
            <a:off x="4697375" y="1850300"/>
            <a:ext cx="40713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Slice of host OS (kernel) through the container runtime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Uses host’s OS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Start up time in seconds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Lightweight - packages only what’s needed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(Docker)</a:t>
            </a:r>
            <a:endParaRPr/>
          </a:p>
        </p:txBody>
      </p:sp>
      <p:sp>
        <p:nvSpPr>
          <p:cNvPr id="273" name="Google Shape;273;p40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Docker Client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Docker Server (daemon) - dockerd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Docker - REST API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Above components make up the Docker Engine which is a server-client application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Docker Registries</a:t>
            </a:r>
            <a:endParaRPr/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950" y="873650"/>
            <a:ext cx="4895600" cy="38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(Docker)</a:t>
            </a:r>
            <a:endParaRPr/>
          </a:p>
        </p:txBody>
      </p:sp>
      <p:pic>
        <p:nvPicPr>
          <p:cNvPr id="280" name="Google Shape;2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25" y="1173650"/>
            <a:ext cx="8316750" cy="35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285" name="Google Shape;285;p42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Registry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87" name="Google Shape;287;p42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288" name="Google Shape;288;p42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9" name="Google Shape;289;p42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42"/>
          <p:cNvSpPr txBox="1"/>
          <p:nvPr>
            <p:ph idx="4294967295" type="body"/>
          </p:nvPr>
        </p:nvSpPr>
        <p:spPr>
          <a:xfrm>
            <a:off x="318375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 service that stores artifacts (docker images)</a:t>
            </a:r>
            <a:endParaRPr sz="1600"/>
          </a:p>
        </p:txBody>
      </p:sp>
      <p:sp>
        <p:nvSpPr>
          <p:cNvPr descr="Background pointer shape in timeline graphic" id="291" name="Google Shape;291;p42"/>
          <p:cNvSpPr/>
          <p:nvPr/>
        </p:nvSpPr>
        <p:spPr>
          <a:xfrm>
            <a:off x="31124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2"/>
          <p:cNvSpPr txBox="1"/>
          <p:nvPr>
            <p:ph idx="4294967295" type="body"/>
          </p:nvPr>
        </p:nvSpPr>
        <p:spPr>
          <a:xfrm>
            <a:off x="34217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Image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93" name="Google Shape;293;p42"/>
          <p:cNvGrpSpPr/>
          <p:nvPr/>
        </p:nvGrpSpPr>
        <p:grpSpPr>
          <a:xfrm>
            <a:off x="3980032" y="2938958"/>
            <a:ext cx="198900" cy="593656"/>
            <a:chOff x="2223534" y="2938958"/>
            <a:chExt cx="198900" cy="593656"/>
          </a:xfrm>
        </p:grpSpPr>
        <p:cxnSp>
          <p:nvCxnSpPr>
            <p:cNvPr id="294" name="Google Shape;294;p42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5" name="Google Shape;295;p42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42"/>
          <p:cNvSpPr txBox="1"/>
          <p:nvPr>
            <p:ph idx="4294967295" type="body"/>
          </p:nvPr>
        </p:nvSpPr>
        <p:spPr>
          <a:xfrm>
            <a:off x="32255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Files + Metadata</a:t>
            </a:r>
            <a:endParaRPr sz="1600"/>
          </a:p>
        </p:txBody>
      </p:sp>
      <p:sp>
        <p:nvSpPr>
          <p:cNvPr descr="Background pointer shape in timeline graphic" id="297" name="Google Shape;297;p42"/>
          <p:cNvSpPr/>
          <p:nvPr/>
        </p:nvSpPr>
        <p:spPr>
          <a:xfrm>
            <a:off x="59865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2"/>
          <p:cNvSpPr txBox="1"/>
          <p:nvPr>
            <p:ph idx="4294967295" type="body"/>
          </p:nvPr>
        </p:nvSpPr>
        <p:spPr>
          <a:xfrm>
            <a:off x="62823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Container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99" name="Google Shape;299;p42"/>
          <p:cNvGrpSpPr/>
          <p:nvPr/>
        </p:nvGrpSpPr>
        <p:grpSpPr>
          <a:xfrm>
            <a:off x="6834145" y="1610215"/>
            <a:ext cx="198900" cy="593656"/>
            <a:chOff x="3918084" y="1610215"/>
            <a:chExt cx="198900" cy="593656"/>
          </a:xfrm>
        </p:grpSpPr>
        <p:cxnSp>
          <p:nvCxnSpPr>
            <p:cNvPr id="300" name="Google Shape;300;p42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1" name="Google Shape;301;p42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42"/>
          <p:cNvSpPr txBox="1"/>
          <p:nvPr>
            <p:ph idx="4294967295" type="body"/>
          </p:nvPr>
        </p:nvSpPr>
        <p:spPr>
          <a:xfrm>
            <a:off x="5818694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Running instantiation of an image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Installation</a:t>
            </a:r>
            <a:endParaRPr/>
          </a:p>
        </p:txBody>
      </p:sp>
      <p:sp>
        <p:nvSpPr>
          <p:cNvPr id="308" name="Google Shape;308;p43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3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Docker Desktop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0" name="Google Shape;310;p43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Windows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MacOS</a:t>
            </a:r>
            <a:endParaRPr sz="1600"/>
          </a:p>
        </p:txBody>
      </p:sp>
      <p:sp>
        <p:nvSpPr>
          <p:cNvPr id="311" name="Google Shape;311;p43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3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Linux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3" name="Google Shape;313;p43"/>
          <p:cNvSpPr txBox="1"/>
          <p:nvPr>
            <p:ph idx="4294967295" type="body"/>
          </p:nvPr>
        </p:nvSpPr>
        <p:spPr>
          <a:xfrm>
            <a:off x="2840851" y="2070575"/>
            <a:ext cx="29670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Ubuntu (Multipass)</a:t>
            </a:r>
            <a:endParaRPr sz="1600"/>
          </a:p>
          <a:p>
            <a:pPr indent="-330200" lvl="1" marL="914400" rtl="0" algn="l"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Docker-ce</a:t>
            </a:r>
            <a:endParaRPr sz="1600"/>
          </a:p>
          <a:p>
            <a:pPr indent="-330200" lvl="1" marL="914400" rtl="0" algn="l"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Docker-ce-cli</a:t>
            </a:r>
            <a:endParaRPr sz="1600"/>
          </a:p>
          <a:p>
            <a:pPr indent="-330200" lvl="1" marL="914400" rtl="0" algn="l"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Docker-buildx-plugin</a:t>
            </a:r>
            <a:endParaRPr sz="1600"/>
          </a:p>
          <a:p>
            <a:pPr indent="-330200" lvl="1" marL="914400" rtl="0" algn="l"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Docker compose plugin</a:t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80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Post Installation steps</a:t>
            </a:r>
            <a:endParaRPr sz="1600"/>
          </a:p>
        </p:txBody>
      </p:sp>
      <p:sp>
        <p:nvSpPr>
          <p:cNvPr id="314" name="Google Shape;314;p43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3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Script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6" name="Google Shape;316;p43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Curl -fsSL get.docker.com | sh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Desktop vs </a:t>
            </a:r>
            <a:br>
              <a:rPr lang="en"/>
            </a:br>
            <a:r>
              <a:rPr lang="en"/>
              <a:t>Docker Engine</a:t>
            </a:r>
            <a:endParaRPr/>
          </a:p>
        </p:txBody>
      </p:sp>
      <p:sp>
        <p:nvSpPr>
          <p:cNvPr id="322" name="Google Shape;322;p44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4"/>
          <p:cNvSpPr txBox="1"/>
          <p:nvPr>
            <p:ph idx="2" type="body"/>
          </p:nvPr>
        </p:nvSpPr>
        <p:spPr>
          <a:xfrm>
            <a:off x="4572000" y="724200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Desktop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VM + Graphical UI + extra features  (single node K8s engine)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Docker engine resides inside the VM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Access network resources easily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Engine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Dockerd (daemon/server)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 - docker client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Inc Packages Vs Distribution Packages</a:t>
            </a:r>
            <a:endParaRPr/>
          </a:p>
        </p:txBody>
      </p:sp>
      <p:sp>
        <p:nvSpPr>
          <p:cNvPr id="329" name="Google Shape;329;p45"/>
          <p:cNvSpPr txBox="1"/>
          <p:nvPr/>
        </p:nvSpPr>
        <p:spPr>
          <a:xfrm>
            <a:off x="309500" y="1208075"/>
            <a:ext cx="8308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inc releases new versions monthly (edge) and quarterly (stable)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Releases are immediately available on docker inc’s package repositories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Linux distros don’t always update to the latest docker version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Sometimes, some distributions have carried packages with custom patches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Sometimes, these patches added critical security bugs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hard-work of installing docker through docker inc’s repositories is worth it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Container</a:t>
            </a:r>
            <a:endParaRPr/>
          </a:p>
        </p:txBody>
      </p:sp>
      <p:sp>
        <p:nvSpPr>
          <p:cNvPr id="335" name="Google Shape;335;p4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6"/>
          <p:cNvSpPr txBox="1"/>
          <p:nvPr>
            <p:ph idx="2" type="body"/>
          </p:nvPr>
        </p:nvSpPr>
        <p:spPr>
          <a:xfrm>
            <a:off x="4529800" y="724200"/>
            <a:ext cx="4614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container run hello-world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container run busybox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container run ubuntu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container run -it ubuntu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 - Command Line Interface</a:t>
            </a:r>
            <a:endParaRPr/>
          </a:p>
        </p:txBody>
      </p:sp>
      <p:sp>
        <p:nvSpPr>
          <p:cNvPr id="342" name="Google Shape;342;p47"/>
          <p:cNvSpPr txBox="1"/>
          <p:nvPr/>
        </p:nvSpPr>
        <p:spPr>
          <a:xfrm>
            <a:off x="327075" y="1199275"/>
            <a:ext cx="7183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text based interface used to run programs, manage computer files and interact with computers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CE - CLI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&lt;noun&gt; &lt;verb&gt; [OPTIONS]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Nouns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Container, Image, Volume, Network, System, Plugin etc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Verbs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Attach, start, rename, pause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Commit, restart, kill, unpause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Stop, list, inspect, export/import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Options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–interactive, –publish, –publish-all, –quiet, –privileged, –tty etc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Cattle</a:t>
            </a:r>
            <a:endParaRPr/>
          </a:p>
        </p:txBody>
      </p:sp>
      <p:sp>
        <p:nvSpPr>
          <p:cNvPr id="348" name="Google Shape;348;p4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metaphor that refers to two types of servers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Distinct names + unique configs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(easily) replaceable and must be fixed during an outage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Cattle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Generic names and configs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Easily replaceable, especially during an outage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Images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Image?</a:t>
            </a:r>
            <a:endParaRPr/>
          </a:p>
        </p:txBody>
      </p:sp>
      <p:sp>
        <p:nvSpPr>
          <p:cNvPr id="359" name="Google Shape;359;p50"/>
          <p:cNvSpPr txBox="1"/>
          <p:nvPr/>
        </p:nvSpPr>
        <p:spPr>
          <a:xfrm>
            <a:off x="362250" y="1295975"/>
            <a:ext cx="405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 = Files + metadata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These files form the root filesystem of our linux container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Metadata includes: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Author of image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Command to execute in the container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ENV variables etc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0" name="Google Shape;36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0150" y="410000"/>
            <a:ext cx="4783000" cy="371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Image</a:t>
            </a:r>
            <a:endParaRPr/>
          </a:p>
        </p:txBody>
      </p:sp>
      <p:sp>
        <p:nvSpPr>
          <p:cNvPr id="366" name="Google Shape;366;p51"/>
          <p:cNvSpPr txBox="1"/>
          <p:nvPr/>
        </p:nvSpPr>
        <p:spPr>
          <a:xfrm>
            <a:off x="371025" y="1208075"/>
            <a:ext cx="8176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Images are made up of layers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Each layer can add, change and remove files or metadata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Images could share layers to optimize disk usage, transfer times and memory use.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specialised storage backend is needed to communicate with the linux filesystem to combine multiple layers into a single usable image.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is made possible via a “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Union Filesystem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”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storage plugins which support these are: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Roboto"/>
              <a:buChar char="○"/>
            </a:pPr>
            <a:r>
              <a:rPr b="1"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Overlay2</a:t>
            </a: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Btrfs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Device-mapper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Supports CoWS (Fast </a:t>
            </a:r>
            <a:r>
              <a:rPr b="1"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copy on write system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04521"/>
            <a:ext cx="4320850" cy="273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6950" y="129700"/>
            <a:ext cx="4727050" cy="32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Image?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Image?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825" y="1539975"/>
            <a:ext cx="7291124" cy="38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Image</a:t>
            </a:r>
            <a:endParaRPr/>
          </a:p>
        </p:txBody>
      </p:sp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800" y="1327550"/>
            <a:ext cx="6926569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 vs Images</a:t>
            </a:r>
            <a:endParaRPr/>
          </a:p>
        </p:txBody>
      </p:sp>
      <p:sp>
        <p:nvSpPr>
          <p:cNvPr id="391" name="Google Shape;391;p55"/>
          <p:cNvSpPr txBox="1"/>
          <p:nvPr/>
        </p:nvSpPr>
        <p:spPr>
          <a:xfrm>
            <a:off x="323025" y="1264725"/>
            <a:ext cx="6548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 - immutable and read-only filesystem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Container - set of encapsulated processes running in a read write copy of the filesystem aka image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CoWS Optimizes container boot time instead of regular copy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‘</a:t>
            </a: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container run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’ starts a container from a given image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containers share the same image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Creation</a:t>
            </a:r>
            <a:endParaRPr/>
          </a:p>
        </p:txBody>
      </p:sp>
      <p:sp>
        <p:nvSpPr>
          <p:cNvPr id="397" name="Google Shape;397;p56"/>
          <p:cNvSpPr txBox="1"/>
          <p:nvPr/>
        </p:nvSpPr>
        <p:spPr>
          <a:xfrm>
            <a:off x="314975" y="1264725"/>
            <a:ext cx="67656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C3E88D"/>
                </a:solidFill>
                <a:highlight>
                  <a:srgbClr val="212121"/>
                </a:highlight>
                <a:latin typeface="Courier New"/>
                <a:ea typeface="Courier New"/>
                <a:cs typeface="Courier New"/>
                <a:sym typeface="Courier New"/>
              </a:rPr>
              <a:t>docker container commit</a:t>
            </a:r>
            <a:endParaRPr sz="1350">
              <a:solidFill>
                <a:srgbClr val="C3E88D"/>
              </a:solidFill>
              <a:highlight>
                <a:srgbClr val="21212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Saves all container changes into a new layer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Creates a new image (a copy of container)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C3E88D"/>
                </a:solidFill>
                <a:highlight>
                  <a:srgbClr val="212121"/>
                </a:highlight>
                <a:latin typeface="Courier New"/>
                <a:ea typeface="Courier New"/>
                <a:cs typeface="Courier New"/>
                <a:sym typeface="Courier New"/>
              </a:rPr>
              <a:t>docker image build </a:t>
            </a:r>
            <a:endParaRPr sz="1350">
              <a:solidFill>
                <a:srgbClr val="C3E88D"/>
              </a:solidFill>
              <a:highlight>
                <a:srgbClr val="21212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Performs a repeatable build sequence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Utilizes a Dockerfile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Preferred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Dockerfile</a:t>
            </a:r>
            <a:endParaRPr/>
          </a:p>
        </p:txBody>
      </p:sp>
      <p:sp>
        <p:nvSpPr>
          <p:cNvPr id="403" name="Google Shape;403;p57"/>
          <p:cNvSpPr txBox="1"/>
          <p:nvPr/>
        </p:nvSpPr>
        <p:spPr>
          <a:xfrm>
            <a:off x="456825" y="1111050"/>
            <a:ext cx="8687100" cy="4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 text file that contains a series of commands for building a docker image</a:t>
            </a:r>
            <a:endParaRPr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FROM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Base Image (Generates a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ARG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Defines a build time variable (No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Provides metadata like maintainer (No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ENV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sets environment variables (No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RUN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Runs Commands on the base image (Generates a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COPY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used to copy files from the local filesystem (Generates a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WORKDIR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-changes your working directory in the image for the remaining build instruction (Generates a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CMD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defines what options to run when you start the container (when used with Entrypoint). Can be overridden.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ENTRYPOINT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Define the base(default) command to execute in the container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EXPOSE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expose ports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ADD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Copies files and directories (Generates a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VOLUME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 Create volume mounts (Generates a layer)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Dockerfile - Preferred Commands</a:t>
            </a:r>
            <a:endParaRPr/>
          </a:p>
        </p:txBody>
      </p:sp>
      <p:sp>
        <p:nvSpPr>
          <p:cNvPr id="409" name="Google Shape;409;p58"/>
          <p:cNvSpPr txBox="1"/>
          <p:nvPr/>
        </p:nvSpPr>
        <p:spPr>
          <a:xfrm>
            <a:off x="439900" y="1167450"/>
            <a:ext cx="6282900" cy="28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ADD vs COPY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 COPY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ENTRYPOINT vs CMD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Preferably use CMD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EXEC vs SHELL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Shell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Best Practices and More Examples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Dockerfile Guidelines</a:t>
            </a:r>
            <a:endParaRPr/>
          </a:p>
        </p:txBody>
      </p:sp>
      <p:sp>
        <p:nvSpPr>
          <p:cNvPr id="415" name="Google Shape;415;p59"/>
          <p:cNvSpPr txBox="1"/>
          <p:nvPr/>
        </p:nvSpPr>
        <p:spPr>
          <a:xfrm>
            <a:off x="427525" y="1116775"/>
            <a:ext cx="80172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Define Base Image - FROM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Create application Directory - WORKDIR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Copy Dependency definitions - COPY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Install application dependencies - Use programming lang package manager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Copy application source code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- COPY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RUN other commands (optional)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Application Binary (Compiled language)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Specify container start-up command (ENTRYPOINT or CMD)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Dockerfile Base Images</a:t>
            </a:r>
            <a:endParaRPr/>
          </a:p>
        </p:txBody>
      </p:sp>
      <p:sp>
        <p:nvSpPr>
          <p:cNvPr id="421" name="Google Shape;421;p60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Full Base Images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Debian based images and large in size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Bookworm/Bullseye/Buster</a:t>
            </a:r>
            <a:r>
              <a:rPr b="1" lang="en"/>
              <a:t> etc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Codenames for various debian releases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Slim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Paired down version of full image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Contains minimal packages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Scratch?</a:t>
            </a:r>
            <a:endParaRPr/>
          </a:p>
        </p:txBody>
      </p:sp>
      <p:sp>
        <p:nvSpPr>
          <p:cNvPr id="422" name="Google Shape;422;p60"/>
          <p:cNvSpPr txBox="1"/>
          <p:nvPr>
            <p:ph idx="2" type="body"/>
          </p:nvPr>
        </p:nvSpPr>
        <p:spPr>
          <a:xfrm>
            <a:off x="4506200" y="1229975"/>
            <a:ext cx="4596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Alpine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Based on the Alpine Linux Project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 OS made specifically for containers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docker image pull python:3.11</a:t>
            </a:r>
            <a:endParaRPr sz="1200">
              <a:solidFill>
                <a:srgbClr val="292929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docker image pull python:3.11.4</a:t>
            </a:r>
            <a:endParaRPr sz="1200">
              <a:solidFill>
                <a:srgbClr val="292929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docker image pull python:3.11.4-slim</a:t>
            </a:r>
            <a:endParaRPr sz="1200">
              <a:solidFill>
                <a:srgbClr val="292929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docker image pull python:3.11.4-slim-bookworm</a:t>
            </a:r>
            <a:endParaRPr sz="1200">
              <a:solidFill>
                <a:srgbClr val="292929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docker image pull python:3.11.4-alpine</a:t>
            </a:r>
            <a:endParaRPr sz="1200">
              <a:solidFill>
                <a:srgbClr val="292929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docker image ls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Languages - Compiled vs Interpreted</a:t>
            </a:r>
            <a:endParaRPr/>
          </a:p>
        </p:txBody>
      </p:sp>
      <p:graphicFrame>
        <p:nvGraphicFramePr>
          <p:cNvPr id="428" name="Google Shape;428;p61"/>
          <p:cNvGraphicFramePr/>
          <p:nvPr/>
        </p:nvGraphicFramePr>
        <p:xfrm>
          <a:off x="0" y="123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{4A4FB2A1-5C8D-44A5-ACE0-77A1F7D9A831}</a:tableStyleId>
              </a:tblPr>
              <a:tblGrid>
                <a:gridCol w="1879675"/>
                <a:gridCol w="3387275"/>
                <a:gridCol w="3877050"/>
              </a:tblGrid>
              <a:tr h="39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Compiled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Interpreted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0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Translation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source code is translated into machine code all at once.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source code is translated into machine code line by line.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Speed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generally faster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generally slower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Memory Usage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typically use less 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typically use more memory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Debugging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Debugging errors in compiled languages is typically done during the compilation step.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Debugging errors in interpreted languages is typically done during the execution step.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C, C++, C#, Java, Golang, Rust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Python, JavaScript, Perl, PHP, Ruby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Layers</a:t>
            </a:r>
            <a:endParaRPr/>
          </a:p>
        </p:txBody>
      </p:sp>
      <p:sp>
        <p:nvSpPr>
          <p:cNvPr id="434" name="Google Shape;434;p62"/>
          <p:cNvSpPr txBox="1"/>
          <p:nvPr/>
        </p:nvSpPr>
        <p:spPr>
          <a:xfrm>
            <a:off x="331050" y="1200450"/>
            <a:ext cx="3487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sample Java Web Applications layers/steps: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Linux Base Layer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Packages and Configs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JRE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Tomcat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 Dependencies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 Code and Business Logic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 Configuration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62"/>
          <p:cNvSpPr txBox="1"/>
          <p:nvPr/>
        </p:nvSpPr>
        <p:spPr>
          <a:xfrm>
            <a:off x="4637900" y="1224550"/>
            <a:ext cx="3431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sample Python Web application layers/steps: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Linux Base Layer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Packages and Configs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Python3 + Package Manager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WebServer Framework (FastAPI or Flask or Django etc)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 Dependencies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 Code and business logic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Registry (OCI Registries)</a:t>
            </a:r>
            <a:endParaRPr/>
          </a:p>
        </p:txBody>
      </p:sp>
      <p:sp>
        <p:nvSpPr>
          <p:cNvPr id="441" name="Google Shape;441;p63"/>
          <p:cNvSpPr txBox="1"/>
          <p:nvPr/>
        </p:nvSpPr>
        <p:spPr>
          <a:xfrm>
            <a:off x="314975" y="1256700"/>
            <a:ext cx="8436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service that hosts and distributes build artifacts (docker images)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 Namespaces (3 types)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Official Images (Root Namespace - </a:t>
            </a:r>
            <a:r>
              <a:rPr i="1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docker.io or hub.docker.com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User Images (User Namespace - </a:t>
            </a:r>
            <a:r>
              <a:rPr i="1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docker.io or hub.docker.com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Self Hosted Images (3rd Party Registries)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2" name="Google Shape;44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275" y="2973100"/>
            <a:ext cx="7275969" cy="210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Registry - Root Namespace(Official Registries)</a:t>
            </a:r>
            <a:endParaRPr/>
          </a:p>
        </p:txBody>
      </p:sp>
      <p:sp>
        <p:nvSpPr>
          <p:cNvPr id="448" name="Google Shape;448;p64"/>
          <p:cNvSpPr txBox="1"/>
          <p:nvPr/>
        </p:nvSpPr>
        <p:spPr>
          <a:xfrm>
            <a:off x="331050" y="1256700"/>
            <a:ext cx="8404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Official Images - Ubuntu, busybox, nginx, alpine etc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 simply has a name, not prefixed by a user namespace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Managed by Docker Inc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Authored and Managed by 3rd party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Recommended for use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Registry - Userspace</a:t>
            </a:r>
            <a:endParaRPr/>
          </a:p>
        </p:txBody>
      </p:sp>
      <p:sp>
        <p:nvSpPr>
          <p:cNvPr id="454" name="Google Shape;454;p65"/>
          <p:cNvSpPr txBox="1"/>
          <p:nvPr/>
        </p:nvSpPr>
        <p:spPr>
          <a:xfrm>
            <a:off x="339075" y="1280800"/>
            <a:ext cx="846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Holds images for docker hub users and orgs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 name prefixed by username or org name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Example - bitnami/etcd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Bitnami == Org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Etcd == Image name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Registry - Self Hosted Namespace</a:t>
            </a:r>
            <a:endParaRPr/>
          </a:p>
        </p:txBody>
      </p:sp>
      <p:sp>
        <p:nvSpPr>
          <p:cNvPr id="460" name="Google Shape;460;p66"/>
          <p:cNvSpPr txBox="1"/>
          <p:nvPr/>
        </p:nvSpPr>
        <p:spPr>
          <a:xfrm>
            <a:off x="331050" y="1264725"/>
            <a:ext cx="838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3rd Party Registries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Contains Hostname and optional port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Egs - </a:t>
            </a:r>
            <a:r>
              <a:rPr lang="en" u="sng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quay.io/coreos/etcd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localhost:5000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Tags</a:t>
            </a:r>
            <a:endParaRPr/>
          </a:p>
        </p:txBody>
      </p:sp>
      <p:sp>
        <p:nvSpPr>
          <p:cNvPr id="466" name="Google Shape;466;p67"/>
          <p:cNvSpPr txBox="1"/>
          <p:nvPr/>
        </p:nvSpPr>
        <p:spPr>
          <a:xfrm>
            <a:off x="435500" y="1168300"/>
            <a:ext cx="7247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Mutable named references to docker images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Default == latest (avoid using latest)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images can have same tag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Immutable identifier for an image == sha256 reference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Tagging format: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&lt;registry_url&gt;/&lt;username&gt;/&lt;repo_name&gt;:&lt;tag&gt;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Versioning</a:t>
            </a:r>
            <a:endParaRPr/>
          </a:p>
        </p:txBody>
      </p:sp>
      <p:sp>
        <p:nvSpPr>
          <p:cNvPr id="472" name="Google Shape;472;p68"/>
          <p:cNvSpPr txBox="1"/>
          <p:nvPr/>
        </p:nvSpPr>
        <p:spPr>
          <a:xfrm>
            <a:off x="311700" y="1158713"/>
            <a:ext cx="3696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Semantic Versioning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MAJOR.MINOR.PATCH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Eg 1.23.4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Major - could contain incompatible changes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Minor - New functionality added with backwards compatibility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Patch - backward compatible bug fixes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Used by kubernetes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68"/>
          <p:cNvSpPr txBox="1"/>
          <p:nvPr/>
        </p:nvSpPr>
        <p:spPr>
          <a:xfrm>
            <a:off x="5053800" y="1232600"/>
            <a:ext cx="3537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Calendar Versioning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MAJOR.MINOR.PATCH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YYYY.MM.PATCH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Ubuntu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known for using this versioning 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4" name="Google Shape;47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3360625"/>
            <a:ext cx="4099799" cy="163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2350" y="3485821"/>
            <a:ext cx="4401650" cy="12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 - What are they?</a:t>
            </a:r>
            <a:endParaRPr/>
          </a:p>
        </p:txBody>
      </p:sp>
      <p:sp>
        <p:nvSpPr>
          <p:cNvPr id="486" name="Google Shape;486;p70"/>
          <p:cNvSpPr txBox="1"/>
          <p:nvPr/>
        </p:nvSpPr>
        <p:spPr>
          <a:xfrm>
            <a:off x="138350" y="861575"/>
            <a:ext cx="8604000" cy="3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Special programs that can isolate processes in it.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They can assign resources to an app and hold all dependencies(libraries etc) at once.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Containers require the following: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18288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Builder - a tool to build a image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18288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 Engine - a technology used for running a container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18288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Orchestration - A technology used for managing multiple containers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Definitions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18288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sandboxed process on your machine that is isolated from all other processes on the host machine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18288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a runnable instance of an image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 - Docker/Linux Signals</a:t>
            </a: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425725" y="1326550"/>
            <a:ext cx="75276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Roboto"/>
              <a:buChar char="●"/>
            </a:pPr>
            <a:r>
              <a:rPr b="1"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SIGTERM</a:t>
            </a: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polite shutdown with a grace period of 10 seconds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stop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SIGINT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Interruption Signal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Ctrl + 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Roboto"/>
              <a:buChar char="●"/>
            </a:pPr>
            <a:r>
              <a:rPr b="1"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SIGKILL</a:t>
            </a: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hard and immediate shutdown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kill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Further Reading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https://www.kaggle.com/code/residentmario/best-practices-for-propagating-signals-on-docker/notebook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Containers - CMD vs Entrypoint</a:t>
            </a:r>
            <a:endParaRPr/>
          </a:p>
        </p:txBody>
      </p:sp>
      <p:sp>
        <p:nvSpPr>
          <p:cNvPr id="498" name="Google Shape;498;p72"/>
          <p:cNvSpPr txBox="1"/>
          <p:nvPr/>
        </p:nvSpPr>
        <p:spPr>
          <a:xfrm>
            <a:off x="351700" y="1209325"/>
            <a:ext cx="8480700" cy="3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Used to specify programs to run when the container starts up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CMD - can be ignored when there are parameters stated within docker container run command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ENTRYPOINT - not ignored by docker container run, but the parameters are rather appended as arguments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 - Shell vs Exec (CMD &amp; Entrypoint)</a:t>
            </a:r>
            <a:endParaRPr/>
          </a:p>
        </p:txBody>
      </p:sp>
      <p:sp>
        <p:nvSpPr>
          <p:cNvPr id="504" name="Google Shape;504;p73"/>
          <p:cNvSpPr txBox="1"/>
          <p:nvPr/>
        </p:nvSpPr>
        <p:spPr>
          <a:xfrm>
            <a:off x="320850" y="1289550"/>
            <a:ext cx="8483700" cy="3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SHELL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ENTRYPOINT/CMD &lt;default_commands&gt;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Shell spins up the actual command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Shell is PID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Does not handle Docker Signals Effectively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EXEC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ENTRYPOINT/CMD  exec &lt;default_command&gt; OR [" &lt;default_command&gt;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"]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(Best Practice)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default_command spins up without the SHELL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&lt;default_command&gt;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PID 1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Usually handles docker signals effectively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Lifecycle</a:t>
            </a:r>
            <a:endParaRPr/>
          </a:p>
        </p:txBody>
      </p:sp>
      <p:pic>
        <p:nvPicPr>
          <p:cNvPr id="510" name="Google Shape;51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61925"/>
            <a:ext cx="8056822" cy="3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4"/>
          <p:cNvSpPr txBox="1"/>
          <p:nvPr/>
        </p:nvSpPr>
        <p:spPr>
          <a:xfrm>
            <a:off x="364025" y="1166150"/>
            <a:ext cx="77742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Create, Run, Pause, Stop, Kill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Lifecycle</a:t>
            </a:r>
            <a:endParaRPr/>
          </a:p>
        </p:txBody>
      </p:sp>
      <p:sp>
        <p:nvSpPr>
          <p:cNvPr id="517" name="Google Shape;517;p75"/>
          <p:cNvSpPr txBox="1"/>
          <p:nvPr/>
        </p:nvSpPr>
        <p:spPr>
          <a:xfrm>
            <a:off x="339350" y="1147625"/>
            <a:ext cx="84837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ker container create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--name &lt;custom_name&gt; &lt;image_name&gt;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Start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start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run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Pause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pause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unpause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Stop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stop &lt;container_id&gt;  {</a:t>
            </a: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SIGTERM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Delete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stop &lt;container_id&gt; + docker container rm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Stops container and removes/deletes all resources associated with container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rm --force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rm $(docker container ls -a -q)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system prune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system prune -a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Lifecycle</a:t>
            </a:r>
            <a:endParaRPr/>
          </a:p>
        </p:txBody>
      </p:sp>
      <p:pic>
        <p:nvPicPr>
          <p:cNvPr id="523" name="Google Shape;52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25" y="1303475"/>
            <a:ext cx="7295504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Healing Containers with Restart Policies</a:t>
            </a:r>
            <a:endParaRPr/>
          </a:p>
        </p:txBody>
      </p:sp>
      <p:sp>
        <p:nvSpPr>
          <p:cNvPr id="529" name="Google Shape;529;p77"/>
          <p:cNvSpPr txBox="1"/>
          <p:nvPr/>
        </p:nvSpPr>
        <p:spPr>
          <a:xfrm>
            <a:off x="345525" y="1085925"/>
            <a:ext cx="8520600" cy="3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Always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run --name always --restart always alpine sleep 1d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Restarts when the container is exited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docker container stop will actually stop the container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restart of the docker server will start the container again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Unless-Stopped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run -d --name unless-stopped  --restart unless-stopped alpine sleep 1d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Would not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On-Failure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run -d --name on-failure  --restart unless-stopped alpine sleep 1d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Only restarts if the container exits in error (ie a non-zero exit code)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○"/>
            </a:pPr>
            <a:r>
              <a:rPr lang="en" u="sng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Exit Codes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 - Background &amp; Interactive</a:t>
            </a:r>
            <a:endParaRPr/>
          </a:p>
        </p:txBody>
      </p:sp>
      <p:sp>
        <p:nvSpPr>
          <p:cNvPr id="535" name="Google Shape;535;p78"/>
          <p:cNvSpPr txBox="1"/>
          <p:nvPr/>
        </p:nvSpPr>
        <p:spPr>
          <a:xfrm>
            <a:off x="308500" y="1258700"/>
            <a:ext cx="8483700" cy="3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Background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run -d &lt;image_id&gt;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ForeGround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run &lt;image_id&gt; OR &lt;image_tag&gt;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Interactive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run -it &lt;container_id&gt; &lt;sh&gt;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SHELLs: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Alpine: sh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Ubuntu/Debian: bash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Inspecting Containers</a:t>
            </a:r>
            <a:endParaRPr/>
          </a:p>
        </p:txBody>
      </p:sp>
      <p:sp>
        <p:nvSpPr>
          <p:cNvPr id="541" name="Google Shape;541;p79"/>
          <p:cNvSpPr txBox="1"/>
          <p:nvPr/>
        </p:nvSpPr>
        <p:spPr>
          <a:xfrm>
            <a:off x="431900" y="1351250"/>
            <a:ext cx="84003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container inspect &lt;container_id&gt;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</a:t>
            </a:r>
            <a:endParaRPr/>
          </a:p>
        </p:txBody>
      </p:sp>
      <p:sp>
        <p:nvSpPr>
          <p:cNvPr id="552" name="Google Shape;552;p81"/>
          <p:cNvSpPr txBox="1"/>
          <p:nvPr/>
        </p:nvSpPr>
        <p:spPr>
          <a:xfrm>
            <a:off x="388725" y="1308050"/>
            <a:ext cx="3553800" cy="3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Uses </a:t>
            </a:r>
            <a:r>
              <a:rPr lang="en" u="sng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CNM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CNM alternatives?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CNM implementation == libnetwork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Sandboxes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Endpoints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81"/>
          <p:cNvSpPr txBox="1"/>
          <p:nvPr/>
        </p:nvSpPr>
        <p:spPr>
          <a:xfrm>
            <a:off x="4282000" y="1320400"/>
            <a:ext cx="41031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Libnetwork Implements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Native Service Discovery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Ingress based load balancing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4" name="Google Shape;55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775" y="3073900"/>
            <a:ext cx="6491644" cy="180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</a:t>
            </a:r>
            <a:endParaRPr/>
          </a:p>
        </p:txBody>
      </p:sp>
      <p:pic>
        <p:nvPicPr>
          <p:cNvPr id="560" name="Google Shape;56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7025"/>
            <a:ext cx="8839204" cy="303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</a:t>
            </a:r>
            <a:endParaRPr/>
          </a:p>
        </p:txBody>
      </p:sp>
      <p:pic>
        <p:nvPicPr>
          <p:cNvPr id="566" name="Google Shape;56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713" y="1059150"/>
            <a:ext cx="4954574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</a:t>
            </a:r>
            <a:endParaRPr/>
          </a:p>
        </p:txBody>
      </p:sp>
      <p:pic>
        <p:nvPicPr>
          <p:cNvPr id="572" name="Google Shape;57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204" cy="356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</a:t>
            </a:r>
            <a:endParaRPr/>
          </a:p>
        </p:txBody>
      </p:sp>
      <p:sp>
        <p:nvSpPr>
          <p:cNvPr id="578" name="Google Shape;578;p85"/>
          <p:cNvSpPr txBox="1"/>
          <p:nvPr/>
        </p:nvSpPr>
        <p:spPr>
          <a:xfrm>
            <a:off x="333175" y="1474650"/>
            <a:ext cx="7453500" cy="3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u="sng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Underlay Network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Bridge (default)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u="sng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Overlay Network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Used to create a mesh network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Used for Docker Swarm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Created in top of a physical 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 - Bridge</a:t>
            </a:r>
            <a:endParaRPr/>
          </a:p>
        </p:txBody>
      </p:sp>
      <p:sp>
        <p:nvSpPr>
          <p:cNvPr id="584" name="Google Shape;584;p86"/>
          <p:cNvSpPr txBox="1"/>
          <p:nvPr/>
        </p:nvSpPr>
        <p:spPr>
          <a:xfrm>
            <a:off x="290000" y="1369750"/>
            <a:ext cx="8477700" cy="3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Default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Associated with uses docker0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Default subnet CIDR - 172.17.0.0/16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Containers on the same network can communicate with each other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Non-Default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Needs to be manually created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Creates virtual interface that starts with br-*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translation is done using container id or container name or network alias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 - Host</a:t>
            </a:r>
            <a:endParaRPr/>
          </a:p>
        </p:txBody>
      </p:sp>
      <p:sp>
        <p:nvSpPr>
          <p:cNvPr id="590" name="Google Shape;590;p87"/>
          <p:cNvSpPr txBox="1"/>
          <p:nvPr/>
        </p:nvSpPr>
        <p:spPr>
          <a:xfrm>
            <a:off x="314675" y="1345075"/>
            <a:ext cx="8409600" cy="3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 direct access to all physical and virtual interfaces running on the host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8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 - None</a:t>
            </a:r>
            <a:endParaRPr/>
          </a:p>
        </p:txBody>
      </p:sp>
      <p:sp>
        <p:nvSpPr>
          <p:cNvPr id="596" name="Google Shape;596;p88"/>
          <p:cNvSpPr txBox="1"/>
          <p:nvPr/>
        </p:nvSpPr>
        <p:spPr>
          <a:xfrm>
            <a:off x="314675" y="1449950"/>
            <a:ext cx="82122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Used for Containers that do not require network connectivity.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PlaceHolder Summary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Storage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9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Storage</a:t>
            </a:r>
            <a:endParaRPr/>
          </a:p>
        </p:txBody>
      </p:sp>
      <p:sp>
        <p:nvSpPr>
          <p:cNvPr id="612" name="Google Shape;612;p91"/>
          <p:cNvSpPr txBox="1"/>
          <p:nvPr/>
        </p:nvSpPr>
        <p:spPr>
          <a:xfrm>
            <a:off x="382550" y="1153800"/>
            <a:ext cx="4269600" cy="4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Types: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Ephemeral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Tightly coupled with </a:t>
            </a: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container lifecycle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is storage associated with the top read write layer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Implemented by the docker storage driver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Persistent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Named volumes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Anonymous volumes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Bind mounts (not recommended)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3" name="Google Shape;61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0950" y="2622175"/>
            <a:ext cx="4719900" cy="2402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Mount Points</a:t>
            </a:r>
            <a:endParaRPr/>
          </a:p>
        </p:txBody>
      </p:sp>
      <p:pic>
        <p:nvPicPr>
          <p:cNvPr id="619" name="Google Shape;61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50" y="1398350"/>
            <a:ext cx="8615100" cy="31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Mount Points</a:t>
            </a:r>
            <a:endParaRPr/>
          </a:p>
        </p:txBody>
      </p:sp>
      <p:pic>
        <p:nvPicPr>
          <p:cNvPr id="625" name="Google Shape;62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213" y="1325000"/>
            <a:ext cx="6023576" cy="39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 Mounts</a:t>
            </a:r>
            <a:endParaRPr/>
          </a:p>
        </p:txBody>
      </p:sp>
      <p:sp>
        <p:nvSpPr>
          <p:cNvPr id="631" name="Google Shape;631;p94"/>
          <p:cNvSpPr txBox="1"/>
          <p:nvPr/>
        </p:nvSpPr>
        <p:spPr>
          <a:xfrm>
            <a:off x="314675" y="1184650"/>
            <a:ext cx="3739200" cy="41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Limited functionality compared to named volumes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tethered to a host machine and requires specifying a file or directory on the host machine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Should only be used if the given host directory structure is guaranteed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Very Performant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94"/>
          <p:cNvSpPr txBox="1"/>
          <p:nvPr/>
        </p:nvSpPr>
        <p:spPr>
          <a:xfrm>
            <a:off x="4405400" y="1203150"/>
            <a:ext cx="4566000" cy="3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docker run -d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-it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--name devtest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--mount type=bind,source="$(pwd)"/target,target=/app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nginx:latest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docker run -d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-it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--name devtest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--mount type=bind,source="$(pwd)"/target,target=/app,readonly \</a:t>
            </a:r>
            <a:endParaRPr sz="1200">
              <a:solidFill>
                <a:srgbClr val="E8EAED"/>
              </a:solidFill>
              <a:highlight>
                <a:srgbClr val="20212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EAED"/>
                </a:solidFill>
                <a:highlight>
                  <a:srgbClr val="202124"/>
                </a:highlight>
                <a:latin typeface="Roboto"/>
                <a:ea typeface="Roboto"/>
                <a:cs typeface="Roboto"/>
                <a:sym typeface="Roboto"/>
              </a:rPr>
              <a:t> nginx:latest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9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Volumes Advantages over Bind Mounts</a:t>
            </a:r>
            <a:endParaRPr/>
          </a:p>
        </p:txBody>
      </p:sp>
      <p:sp>
        <p:nvSpPr>
          <p:cNvPr id="638" name="Google Shape;638;p95"/>
          <p:cNvSpPr txBox="1"/>
          <p:nvPr/>
        </p:nvSpPr>
        <p:spPr>
          <a:xfrm>
            <a:off x="290000" y="1301875"/>
            <a:ext cx="50532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Easier to backup and migrate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Managed using docker cli or API.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Works on linux and windows containers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be safely shared among multiple containers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utilize different storage backends by using a specific volume driver. Enables added functionality like encryption etc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Volumes on Docker Desktop have much higher performance than bind mounts from Mac and Windows hosts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Only Volumes</a:t>
            </a:r>
            <a:endParaRPr/>
          </a:p>
        </p:txBody>
      </p:sp>
      <p:sp>
        <p:nvSpPr>
          <p:cNvPr id="644" name="Google Shape;644;p96"/>
          <p:cNvSpPr txBox="1"/>
          <p:nvPr/>
        </p:nvSpPr>
        <p:spPr>
          <a:xfrm>
            <a:off x="277650" y="1406775"/>
            <a:ext cx="5189100" cy="1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container only needs read access to the data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Add ‘ro’ as an option to the mount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-d \</a:t>
            </a:r>
            <a:endParaRPr sz="11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--name=nginxtest \</a:t>
            </a:r>
            <a:endParaRPr sz="11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-v my-vol:/usr/share/nginx/html:ro \</a:t>
            </a:r>
            <a:endParaRPr sz="11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r>
              <a:rPr lang="en" sz="11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:latest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9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Volumes</a:t>
            </a:r>
            <a:endParaRPr/>
          </a:p>
        </p:txBody>
      </p:sp>
      <p:sp>
        <p:nvSpPr>
          <p:cNvPr id="650" name="Google Shape;650;p97"/>
          <p:cNvSpPr txBox="1"/>
          <p:nvPr/>
        </p:nvSpPr>
        <p:spPr>
          <a:xfrm>
            <a:off x="320850" y="1400600"/>
            <a:ext cx="7225200" cy="3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volume create &lt;volume_name&gt;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volume inspect &lt;volume_name&gt;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volume rm &lt;volume_name&gt;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Internals &amp; Security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Internals</a:t>
            </a:r>
            <a:endParaRPr/>
          </a:p>
        </p:txBody>
      </p:sp>
      <p:pic>
        <p:nvPicPr>
          <p:cNvPr id="661" name="Google Shape;66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750" y="1155800"/>
            <a:ext cx="6194156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0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OCI - Open container initiative</a:t>
            </a:r>
            <a:endParaRPr/>
          </a:p>
        </p:txBody>
      </p:sp>
      <p:sp>
        <p:nvSpPr>
          <p:cNvPr id="667" name="Google Shape;667;p100"/>
          <p:cNvSpPr txBox="1"/>
          <p:nvPr/>
        </p:nvSpPr>
        <p:spPr>
          <a:xfrm>
            <a:off x="320850" y="1345075"/>
            <a:ext cx="4010400" cy="3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Image Spec (docker, buildkit, buildah, crane)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Container runtime spec - (docker, containerd/runc, podman)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Distribution spec - dockerhub, ecr, acr, gcr, crane, ghcr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on Linux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Dockerd (daemon)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Docker-containerd (containerd)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Docker-containerd-shim (shim)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Docker-runc (runc)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100"/>
          <p:cNvSpPr txBox="1"/>
          <p:nvPr/>
        </p:nvSpPr>
        <p:spPr>
          <a:xfrm>
            <a:off x="4824975" y="1382100"/>
            <a:ext cx="3831600" cy="3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Runc - creates containers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Containerd - container lifecycle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Start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Stop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Pause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Remove etc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0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Security</a:t>
            </a:r>
            <a:endParaRPr/>
          </a:p>
        </p:txBody>
      </p:sp>
      <p:pic>
        <p:nvPicPr>
          <p:cNvPr id="674" name="Google Shape;67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523" y="1834097"/>
            <a:ext cx="7890176" cy="3309401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101"/>
          <p:cNvSpPr txBox="1"/>
          <p:nvPr/>
        </p:nvSpPr>
        <p:spPr>
          <a:xfrm>
            <a:off x="290000" y="1357400"/>
            <a:ext cx="39735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Container Scanning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Linux Security Features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Kernel Namespaces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Groups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Capabilities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Trusted Images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 Armor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Secomp PRofile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Scanning - Tools</a:t>
            </a:r>
            <a:endParaRPr/>
          </a:p>
        </p:txBody>
      </p:sp>
      <p:pic>
        <p:nvPicPr>
          <p:cNvPr id="681" name="Google Shape;68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375" y="1184646"/>
            <a:ext cx="9144003" cy="3942458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102"/>
          <p:cNvSpPr txBox="1"/>
          <p:nvPr/>
        </p:nvSpPr>
        <p:spPr>
          <a:xfrm>
            <a:off x="468925" y="1184650"/>
            <a:ext cx="52506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Roboto"/>
              <a:buChar char="●"/>
            </a:pPr>
            <a:r>
              <a:rPr b="1"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Trivy</a:t>
            </a: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Anchore (grype)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Snyk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Docker Scout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Sysdig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Twistlock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Linux/Docker Namespaces</a:t>
            </a:r>
            <a:endParaRPr/>
          </a:p>
        </p:txBody>
      </p:sp>
      <p:pic>
        <p:nvPicPr>
          <p:cNvPr id="688" name="Google Shape;6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188" y="1491850"/>
            <a:ext cx="7279625" cy="33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Linux/Docker Namespaces</a:t>
            </a:r>
            <a:endParaRPr/>
          </a:p>
        </p:txBody>
      </p:sp>
      <p:sp>
        <p:nvSpPr>
          <p:cNvPr id="694" name="Google Shape;694;p104"/>
          <p:cNvSpPr txBox="1"/>
          <p:nvPr/>
        </p:nvSpPr>
        <p:spPr>
          <a:xfrm>
            <a:off x="401050" y="1271025"/>
            <a:ext cx="42450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Cgroups - Resource protection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PID - Process identifiers and process capabilities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IPC - Communication by shared memory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USR - usernames and identifiers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 - Network access and structure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UTS - Host and domain name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MNT - Filesystem access and structure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